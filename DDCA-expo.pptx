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CDB4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6583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1">
                <a:solidFill>
                  <a:srgbClr val="1ECDB4"/>
                </a:solidFill>
                <a:latin typeface="Aptos"/>
              </a:defRPr>
            </a:pPr>
            <a:r>
              <a:rPr dirty="0"/>
              <a:t>B.TECH • FIRST YEAR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6766560" cy="10515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t>SMART HOME SECURITY</a:t>
            </a:r>
            <a:br/>
            <a:r>
              <a:t>&amp; INTRUDER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212848"/>
            <a:ext cx="6217920" cy="5943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500" b="0">
                <a:solidFill>
                  <a:srgbClr val="B4C3D7"/>
                </a:solidFill>
                <a:latin typeface="Aptos"/>
              </a:defRPr>
            </a:pPr>
            <a:r>
              <a:t>A digital logic prototype that detects unexpected entry and triggers an alarm.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63240"/>
            <a:ext cx="5669280" cy="475488"/>
          </a:xfrm>
          <a:prstGeom prst="roundRect">
            <a:avLst/>
          </a:prstGeom>
          <a:solidFill>
            <a:srgbClr val="192D4C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182112"/>
            <a:ext cx="530352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1">
                <a:solidFill>
                  <a:srgbClr val="1ECDB4"/>
                </a:solidFill>
                <a:latin typeface="Aptos"/>
              </a:defRPr>
            </a:pPr>
            <a:r>
              <a:t>DDCA  •  LOGIC GATES  •  LOGISIM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22191"/>
            <a:ext cx="5760720" cy="243143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1">
                <a:solidFill>
                  <a:srgbClr val="FFB240"/>
                </a:solidFill>
                <a:latin typeface="Aptos"/>
              </a:defRPr>
            </a:pPr>
            <a:r>
              <a:rPr dirty="0"/>
              <a:t>TEAM MEMBERS</a:t>
            </a:r>
            <a:r>
              <a:rPr lang="en-IN" dirty="0"/>
              <a:t> – GROUP 6</a:t>
            </a:r>
            <a:endParaRPr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648307"/>
              </p:ext>
            </p:extLst>
          </p:nvPr>
        </p:nvGraphicFramePr>
        <p:xfrm>
          <a:off x="640080" y="4133087"/>
          <a:ext cx="5806440" cy="2117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95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S.No.</a:t>
                      </a:r>
                    </a:p>
                  </a:txBody>
                  <a:tcPr marL="73152" marR="36576">
                    <a:solidFill>
                      <a:srgbClr val="1B4A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Name</a:t>
                      </a:r>
                    </a:p>
                  </a:txBody>
                  <a:tcPr marL="73152" marR="36576">
                    <a:solidFill>
                      <a:srgbClr val="1B4A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Roll Number</a:t>
                      </a:r>
                    </a:p>
                  </a:txBody>
                  <a:tcPr marL="73152" marR="36576">
                    <a:solidFill>
                      <a:srgbClr val="1B4A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95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Sabeer</a:t>
                      </a:r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2620030506</a:t>
                      </a:r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95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rPr lang="en-IN" dirty="0"/>
                        <a:t>Sushma</a:t>
                      </a:r>
                      <a:endParaRPr dirty="0"/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rPr dirty="0"/>
                        <a:t>26200</a:t>
                      </a:r>
                      <a:r>
                        <a:rPr lang="en-IN" dirty="0"/>
                        <a:t>30518</a:t>
                      </a:r>
                      <a:endParaRPr dirty="0"/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95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rPr lang="en-IN" dirty="0"/>
                        <a:t>Kaushik</a:t>
                      </a:r>
                      <a:endParaRPr dirty="0"/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rPr dirty="0"/>
                        <a:t>26200</a:t>
                      </a:r>
                      <a:r>
                        <a:rPr lang="en-IN" dirty="0"/>
                        <a:t>30525</a:t>
                      </a:r>
                      <a:endParaRPr dirty="0"/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96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rPr lang="en-IN" dirty="0"/>
                        <a:t>Lochan</a:t>
                      </a:r>
                      <a:endParaRPr dirty="0"/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rPr dirty="0"/>
                        <a:t>26200</a:t>
                      </a:r>
                      <a:r>
                        <a:rPr lang="en-IN" dirty="0"/>
                        <a:t>30526</a:t>
                      </a:r>
                      <a:endParaRPr dirty="0"/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96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rPr lang="en-IN" dirty="0"/>
                        <a:t>5</a:t>
                      </a:r>
                      <a:endParaRPr dirty="0"/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rPr lang="en-IN" dirty="0"/>
                        <a:t>Bhavya</a:t>
                      </a:r>
                      <a:endParaRPr dirty="0"/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rPr lang="en-IN" dirty="0"/>
                        <a:t>2620030532</a:t>
                      </a:r>
                      <a:endParaRPr dirty="0"/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27345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52360" y="1417320"/>
            <a:ext cx="1325880" cy="658368"/>
          </a:xfrm>
          <a:prstGeom prst="roundRect">
            <a:avLst/>
          </a:prstGeom>
          <a:solidFill>
            <a:srgbClr val="192D4C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79" y="1627632"/>
            <a:ext cx="123444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  <a:latin typeface="Aptos"/>
              </a:defRPr>
            </a:pPr>
            <a:r>
              <a:t>SENSORS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1417320"/>
            <a:ext cx="1417320" cy="658368"/>
          </a:xfrm>
          <a:prstGeom prst="roundRect">
            <a:avLst/>
          </a:prstGeom>
          <a:solidFill>
            <a:srgbClr val="192D4C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0" y="1627632"/>
            <a:ext cx="132588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  <a:latin typeface="Aptos"/>
              </a:defRPr>
            </a:pPr>
            <a:r>
              <a:t>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788920"/>
            <a:ext cx="1645920" cy="658368"/>
          </a:xfrm>
          <a:prstGeom prst="roundRect">
            <a:avLst/>
          </a:prstGeom>
          <a:solidFill>
            <a:srgbClr val="192D4C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2999232"/>
            <a:ext cx="155448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  <a:latin typeface="Aptos"/>
              </a:defRPr>
            </a:pPr>
            <a:r>
              <a:t>ALARM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0" y="1746504"/>
            <a:ext cx="594360" cy="0"/>
          </a:xfrm>
          <a:prstGeom prst="line">
            <a:avLst/>
          </a:prstGeom>
          <a:ln w="25400">
            <a:solidFill>
              <a:srgbClr val="1EC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235440" y="2075688"/>
            <a:ext cx="822960" cy="713232"/>
          </a:xfrm>
          <a:prstGeom prst="line">
            <a:avLst/>
          </a:prstGeom>
          <a:ln w="25400">
            <a:solidFill>
              <a:srgbClr val="1EC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06640" y="3977639"/>
            <a:ext cx="3931920" cy="47397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B4C3D7"/>
                </a:solidFill>
                <a:latin typeface="Aptos"/>
              </a:defRPr>
            </a:pPr>
            <a:r>
              <a:rPr dirty="0"/>
              <a:t>Section: </a:t>
            </a:r>
            <a:r>
              <a:rPr lang="en-IN"/>
              <a:t>11</a:t>
            </a:r>
            <a:br/>
            <a:r>
              <a:t>KL Deemed to be University • 2026–2027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5074920"/>
            <a:ext cx="3840480" cy="5486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Project idea: detect a possible intrusion and alert the occupants.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37960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defRPr sz="800" b="1">
                <a:solidFill>
                  <a:srgbClr val="1ECDB4"/>
                </a:solidFill>
                <a:latin typeface="Aptos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CDB4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1124712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1">
                <a:solidFill>
                  <a:srgbClr val="1ECDB4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112471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500" b="1">
                <a:solidFill>
                  <a:srgbClr val="F5F8FC"/>
                </a:solidFill>
                <a:latin typeface="Aptos"/>
              </a:defRPr>
            </a:pPr>
            <a:r>
              <a:t>Introduction and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1106424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0">
                <a:solidFill>
                  <a:srgbClr val="B4C3D7"/>
                </a:solidFill>
                <a:latin typeface="Aptos"/>
              </a:defRPr>
            </a:pPr>
            <a:r>
              <a:t>A simple smart-home security concept modelled using digital logic.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91440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700" b="0">
                <a:solidFill>
                  <a:srgbClr val="B4C3D7"/>
                </a:solidFill>
                <a:latin typeface="Aptos"/>
              </a:defRPr>
            </a:pPr>
            <a:r>
              <a:t>SMART HOME SECURITY &amp; INTRUDER DETECTION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defRPr sz="800" b="1">
                <a:solidFill>
                  <a:srgbClr val="1ECDB4"/>
                </a:solidFill>
                <a:latin typeface="Aptos"/>
              </a:defRPr>
            </a:pPr>
            <a:r>
              <a:t>02 /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3246120" cy="1417320"/>
          </a:xfrm>
          <a:prstGeom prst="roundRect">
            <a:avLst/>
          </a:prstGeom>
          <a:solidFill>
            <a:srgbClr val="192D4C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084831"/>
            <a:ext cx="283464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1">
                <a:solidFill>
                  <a:srgbClr val="1ECDB4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2834640" cy="6217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Unexpected entry may go unnoticed when a home is unattended.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874519"/>
            <a:ext cx="3246120" cy="1417320"/>
          </a:xfrm>
          <a:prstGeom prst="roundRect">
            <a:avLst/>
          </a:prstGeom>
          <a:solidFill>
            <a:srgbClr val="192D4C"/>
          </a:solidFill>
          <a:ln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2084831"/>
            <a:ext cx="283464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1">
                <a:solidFill>
                  <a:srgbClr val="FFB240"/>
                </a:solidFill>
                <a:latin typeface="Aptos"/>
              </a:defRPr>
            </a:pPr>
            <a:r>
              <a:t>THE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487168"/>
            <a:ext cx="2834640" cy="6217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Door and motion sensors provide binary signals to a controller.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874519"/>
            <a:ext cx="3246120" cy="1417320"/>
          </a:xfrm>
          <a:prstGeom prst="roundRect">
            <a:avLst/>
          </a:prstGeom>
          <a:solidFill>
            <a:srgbClr val="192D4C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09559" y="2084831"/>
            <a:ext cx="283464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1">
                <a:solidFill>
                  <a:srgbClr val="FF6978"/>
                </a:solidFill>
                <a:latin typeface="Aptos"/>
              </a:defRPr>
            </a:pPr>
            <a:r>
              <a:t>THE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59" y="2487168"/>
            <a:ext cx="2834640" cy="6217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When the system is armed and either sensor activates, raise an alarm.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40480"/>
            <a:ext cx="512064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1">
                <a:solidFill>
                  <a:srgbClr val="1ECDB4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251960"/>
            <a:ext cx="164592" cy="164592"/>
          </a:xfrm>
          <a:prstGeom prst="rect">
            <a:avLst/>
          </a:prstGeom>
          <a:solidFill>
            <a:srgbClr val="1ECDB4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206240"/>
            <a:ext cx="56692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Represent sensor states as 0s and 1s.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690872"/>
            <a:ext cx="164592" cy="164592"/>
          </a:xfrm>
          <a:prstGeom prst="rect">
            <a:avLst/>
          </a:prstGeom>
          <a:solidFill>
            <a:srgbClr val="1ECDB4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4645152"/>
            <a:ext cx="56692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Design an alarm rule using AND and OR gates.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129784"/>
            <a:ext cx="164592" cy="164592"/>
          </a:xfrm>
          <a:prstGeom prst="rect">
            <a:avLst/>
          </a:prstGeom>
          <a:solidFill>
            <a:srgbClr val="1ECDB4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5084064"/>
            <a:ext cx="56692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Verify every input combination with a truth table.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568696"/>
            <a:ext cx="164592" cy="164592"/>
          </a:xfrm>
          <a:prstGeom prst="rect">
            <a:avLst/>
          </a:prstGeom>
          <a:solidFill>
            <a:srgbClr val="1ECDB4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5522975"/>
            <a:ext cx="56692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Demonstrate the combinational circuit in Logisim Evolution.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886200"/>
            <a:ext cx="4069080" cy="1783080"/>
          </a:xfrm>
          <a:prstGeom prst="roundRect">
            <a:avLst/>
          </a:prstGeom>
          <a:solidFill>
            <a:srgbClr val="192D4C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43800" y="4114800"/>
            <a:ext cx="356616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1">
                <a:solidFill>
                  <a:srgbClr val="1ECDB4"/>
                </a:solidFill>
                <a:latin typeface="Aptos"/>
              </a:defRPr>
            </a:pPr>
            <a:r>
              <a:t>INPUTS → DECISION →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4553712"/>
            <a:ext cx="3520440" cy="8229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Door sensor • PIR motion sensor • Armed switch</a:t>
            </a:r>
            <a:br/>
            <a:r>
              <a:t>Output: Alarm LED / buzzer (conceptual)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CDB4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1124712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1">
                <a:solidFill>
                  <a:srgbClr val="1ECDB4"/>
                </a:solidFill>
                <a:latin typeface="Aptos"/>
              </a:defRPr>
            </a:pPr>
            <a:r>
              <a:t>DIGITAL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112471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500" b="1">
                <a:solidFill>
                  <a:srgbClr val="F5F8FC"/>
                </a:solidFill>
                <a:latin typeface="Aptos"/>
              </a:defRPr>
            </a:pPr>
            <a:r>
              <a:t>Theory and Logic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1106424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0">
                <a:solidFill>
                  <a:srgbClr val="B4C3D7"/>
                </a:solidFill>
                <a:latin typeface="Aptos"/>
              </a:defRPr>
            </a:pPr>
            <a:r>
              <a:t>The alarm is activated only when the system is armed and a sensor detects activity.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91440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700" b="0">
                <a:solidFill>
                  <a:srgbClr val="B4C3D7"/>
                </a:solidFill>
                <a:latin typeface="Aptos"/>
              </a:defRPr>
            </a:pPr>
            <a:r>
              <a:t>SMART HOME SECURITY &amp; INTRUDER DETECTION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defRPr sz="800" b="1">
                <a:solidFill>
                  <a:srgbClr val="1ECDB4"/>
                </a:solidFill>
                <a:latin typeface="Aptos"/>
              </a:defRPr>
            </a:pPr>
            <a:r>
              <a:t>03 /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12064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1">
                <a:solidFill>
                  <a:srgbClr val="FFB240"/>
                </a:solidFill>
                <a:latin typeface="Aptos"/>
              </a:defRPr>
            </a:pPr>
            <a:r>
              <a:t>BOOLEAN EXPRESSION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5166360" cy="868680"/>
          </a:xfrm>
          <a:prstGeom prst="roundRect">
            <a:avLst/>
          </a:prstGeom>
          <a:solidFill>
            <a:srgbClr val="192D4C"/>
          </a:solidFill>
          <a:ln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470916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800" b="1">
                <a:solidFill>
                  <a:srgbClr val="F5F8FC"/>
                </a:solidFill>
                <a:latin typeface="Aptos"/>
              </a:defRPr>
            </a:pPr>
            <a:r>
              <a:t>ALARM = (D AND A) OR (M AND 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4983480" cy="6583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B4C3D7"/>
                </a:solidFill>
                <a:latin typeface="Aptos"/>
              </a:defRPr>
            </a:pPr>
            <a:r>
              <a:t>D = Door open     M = Motion detected</a:t>
            </a:r>
            <a:br/>
            <a:r>
              <a:t>A = System armed     1 = active, 0 = inactive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512064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1">
                <a:solidFill>
                  <a:srgbClr val="1ECDB4"/>
                </a:solidFill>
                <a:latin typeface="Aptos"/>
              </a:defRPr>
            </a:pPr>
            <a:r>
              <a:t>GATES USED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80560"/>
            <a:ext cx="1051560" cy="438912"/>
          </a:xfrm>
          <a:prstGeom prst="roundRect">
            <a:avLst/>
          </a:prstGeom>
          <a:solidFill>
            <a:srgbClr val="192D4C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4599432"/>
            <a:ext cx="91440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  <a:latin typeface="Aptos"/>
              </a:defRPr>
            </a:pPr>
            <a:r>
              <a:t>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562856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Both inputs must be 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138928"/>
            <a:ext cx="1051560" cy="438912"/>
          </a:xfrm>
          <a:prstGeom prst="roundRect">
            <a:avLst/>
          </a:prstGeom>
          <a:solidFill>
            <a:srgbClr val="192D4C"/>
          </a:solidFill>
          <a:ln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5257800"/>
            <a:ext cx="91440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  <a:latin typeface="Aptos"/>
              </a:defRPr>
            </a:pPr>
            <a:r>
              <a:t>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221224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F5F8FC"/>
                </a:solidFill>
                <a:latin typeface="Aptos"/>
              </a:defRPr>
            </a:pPr>
            <a:r>
              <a:t>At least one input must be 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600200"/>
            <a:ext cx="50292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1">
                <a:solidFill>
                  <a:srgbClr val="1ECDB4"/>
                </a:solidFill>
                <a:latin typeface="Aptos"/>
              </a:defRPr>
            </a:pPr>
            <a:r>
              <a:t>HOW THE SIGNALS COMBINE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2148840"/>
            <a:ext cx="1234440" cy="530352"/>
          </a:xfrm>
          <a:prstGeom prst="roundRect">
            <a:avLst/>
          </a:prstGeom>
          <a:solidFill>
            <a:srgbClr val="192D4C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5392" y="2295144"/>
            <a:ext cx="1179576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3063240"/>
            <a:ext cx="1234440" cy="530352"/>
          </a:xfrm>
          <a:prstGeom prst="roundRect">
            <a:avLst/>
          </a:prstGeom>
          <a:solidFill>
            <a:srgbClr val="192D4C"/>
          </a:solidFill>
          <a:ln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3209544"/>
            <a:ext cx="1179576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4160520"/>
            <a:ext cx="1234440" cy="530352"/>
          </a:xfrm>
          <a:prstGeom prst="roundRect">
            <a:avLst/>
          </a:prstGeom>
          <a:solidFill>
            <a:srgbClr val="192D4C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65392" y="4306824"/>
            <a:ext cx="1179576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5074920"/>
            <a:ext cx="1234440" cy="530352"/>
          </a:xfrm>
          <a:prstGeom prst="roundRect">
            <a:avLst/>
          </a:prstGeom>
          <a:solidFill>
            <a:srgbClr val="192D4C"/>
          </a:solidFill>
          <a:ln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65392" y="5221224"/>
            <a:ext cx="1179576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2487168"/>
            <a:ext cx="1143000" cy="640080"/>
          </a:xfrm>
          <a:prstGeom prst="roundRect">
            <a:avLst/>
          </a:prstGeom>
          <a:solidFill>
            <a:srgbClr val="192D4C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02752" y="2633472"/>
            <a:ext cx="1088136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  <a:latin typeface="Aptos"/>
              </a:defRPr>
            </a:pPr>
            <a:r>
              <a:t>AND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4498848"/>
            <a:ext cx="1143000" cy="640080"/>
          </a:xfrm>
          <a:prstGeom prst="roundRect">
            <a:avLst/>
          </a:prstGeom>
          <a:solidFill>
            <a:srgbClr val="192D4C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02752" y="4645152"/>
            <a:ext cx="1088136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  <a:latin typeface="Aptos"/>
              </a:defRPr>
            </a:pPr>
            <a:r>
              <a:t>AND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21240" y="3429000"/>
            <a:ext cx="1005840" cy="658368"/>
          </a:xfrm>
          <a:prstGeom prst="roundRect">
            <a:avLst/>
          </a:prstGeom>
          <a:solidFill>
            <a:srgbClr val="192D4C"/>
          </a:solidFill>
          <a:ln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948672" y="3575304"/>
            <a:ext cx="950976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  <a:latin typeface="Aptos"/>
              </a:defRPr>
            </a:pPr>
            <a:r>
              <a:t>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064240" y="3429000"/>
            <a:ext cx="685800" cy="658368"/>
          </a:xfrm>
          <a:prstGeom prst="roundRect">
            <a:avLst/>
          </a:prstGeom>
          <a:solidFill>
            <a:srgbClr val="192D4C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091672" y="3575304"/>
            <a:ext cx="630936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>
              <a:defRPr sz="1200" b="1">
                <a:solidFill>
                  <a:srgbClr val="F5F8FC"/>
                </a:solidFill>
                <a:latin typeface="Aptos"/>
              </a:defRPr>
            </a:pPr>
            <a:r>
              <a:t>!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72400" y="2414016"/>
            <a:ext cx="502920" cy="283464"/>
          </a:xfrm>
          <a:prstGeom prst="line">
            <a:avLst/>
          </a:prstGeom>
          <a:ln w="20320">
            <a:solidFill>
              <a:srgbClr val="1EC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772400" y="2926080"/>
            <a:ext cx="502920" cy="402336"/>
          </a:xfrm>
          <a:prstGeom prst="line">
            <a:avLst/>
          </a:prstGeom>
          <a:ln w="20320">
            <a:solidFill>
              <a:srgbClr val="1EC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72400" y="4425696"/>
            <a:ext cx="502920" cy="256032"/>
          </a:xfrm>
          <a:prstGeom prst="line">
            <a:avLst/>
          </a:prstGeom>
          <a:ln w="20320">
            <a:solidFill>
              <a:srgbClr val="1EC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772400" y="4983480"/>
            <a:ext cx="502920" cy="356616"/>
          </a:xfrm>
          <a:prstGeom prst="line">
            <a:avLst/>
          </a:prstGeom>
          <a:ln w="20320">
            <a:solidFill>
              <a:srgbClr val="1EC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18320" y="2807208"/>
            <a:ext cx="502920" cy="850392"/>
          </a:xfrm>
          <a:prstGeom prst="line">
            <a:avLst/>
          </a:prstGeom>
          <a:ln w="20320">
            <a:solidFill>
              <a:srgbClr val="1EC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418320" y="3886200"/>
            <a:ext cx="502920" cy="932688"/>
          </a:xfrm>
          <a:prstGeom prst="line">
            <a:avLst/>
          </a:prstGeom>
          <a:ln w="20320">
            <a:solidFill>
              <a:srgbClr val="1EC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927080" y="3758184"/>
            <a:ext cx="137160" cy="0"/>
          </a:xfrm>
          <a:prstGeom prst="line">
            <a:avLst/>
          </a:prstGeom>
          <a:ln w="20320">
            <a:solidFill>
              <a:srgbClr val="1EC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37960" y="5897880"/>
            <a:ext cx="493776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0">
                <a:solidFill>
                  <a:srgbClr val="B4C3D7"/>
                </a:solidFill>
                <a:latin typeface="Aptos"/>
              </a:defRPr>
            </a:pPr>
            <a:r>
              <a:t>D and M are gated by A before the final 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CDB4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1124712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1">
                <a:solidFill>
                  <a:srgbClr val="1ECDB4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112471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500" b="1">
                <a:solidFill>
                  <a:srgbClr val="F5F8FC"/>
                </a:solidFill>
                <a:latin typeface="Aptos"/>
              </a:defRPr>
            </a:pPr>
            <a:r>
              <a:t>Circuit Design in Logisim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1106424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0">
                <a:solidFill>
                  <a:srgbClr val="B4C3D7"/>
                </a:solidFill>
                <a:latin typeface="Aptos"/>
              </a:defRPr>
            </a:pPr>
            <a:r>
              <a:t>Circuit layout for the Boolean rule: ALARM = (D AND A) OR (M AND 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91440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700" b="0">
                <a:solidFill>
                  <a:srgbClr val="B4C3D7"/>
                </a:solidFill>
                <a:latin typeface="Aptos"/>
              </a:defRPr>
            </a:pPr>
            <a:r>
              <a:t>SMART HOME SECURITY &amp; INTRUDER DETECTION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defRPr sz="800" b="1">
                <a:solidFill>
                  <a:srgbClr val="1ECDB4"/>
                </a:solidFill>
                <a:latin typeface="Aptos"/>
              </a:defRPr>
            </a:pPr>
            <a:r>
              <a:t>04 / 06</a:t>
            </a:r>
          </a:p>
        </p:txBody>
      </p:sp>
      <p:pic>
        <p:nvPicPr>
          <p:cNvPr id="8" name="Picture 7" descr="logisim_circuit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7818120" cy="4251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732520" y="1645920"/>
            <a:ext cx="2834640" cy="1143000"/>
          </a:xfrm>
          <a:prstGeom prst="roundRect">
            <a:avLst/>
          </a:prstGeom>
          <a:solidFill>
            <a:srgbClr val="192D4C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0" y="1856231"/>
            <a:ext cx="242316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1">
                <a:solidFill>
                  <a:srgbClr val="1ECDB4"/>
                </a:solidFill>
                <a:latin typeface="Aptos"/>
              </a:defRPr>
            </a:pPr>
            <a:r>
              <a:t>INPUT PINS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212848"/>
            <a:ext cx="233172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0">
                <a:solidFill>
                  <a:srgbClr val="F5F8FC"/>
                </a:solidFill>
                <a:latin typeface="Aptos"/>
              </a:defRPr>
            </a:pPr>
            <a:r>
              <a:t>DOOR_OPEN, MOTION, ARMED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3063240"/>
            <a:ext cx="2834640" cy="1143000"/>
          </a:xfrm>
          <a:prstGeom prst="roundRect">
            <a:avLst/>
          </a:prstGeom>
          <a:solidFill>
            <a:srgbClr val="192D4C"/>
          </a:solidFill>
          <a:ln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0" y="3273552"/>
            <a:ext cx="242316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1">
                <a:solidFill>
                  <a:srgbClr val="FFB240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630168"/>
            <a:ext cx="233172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0">
                <a:solidFill>
                  <a:srgbClr val="F5F8FC"/>
                </a:solidFill>
                <a:latin typeface="Aptos"/>
              </a:defRPr>
            </a:pPr>
            <a:r>
              <a:t>Two AND gates feed one OR gate.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4480560"/>
            <a:ext cx="2834640" cy="1143000"/>
          </a:xfrm>
          <a:prstGeom prst="roundRect">
            <a:avLst/>
          </a:prstGeom>
          <a:solidFill>
            <a:srgbClr val="192D4C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0" y="4690872"/>
            <a:ext cx="242316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1">
                <a:solidFill>
                  <a:srgbClr val="FF6978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5047488"/>
            <a:ext cx="2331720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0">
                <a:solidFill>
                  <a:srgbClr val="F5F8FC"/>
                </a:solidFill>
                <a:latin typeface="Aptos"/>
              </a:defRPr>
            </a:pPr>
            <a:r>
              <a:t>ALARM output becomes 1 when triggered.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89320"/>
            <a:ext cx="1069848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900" b="0">
                <a:solidFill>
                  <a:srgbClr val="B4C3D7"/>
                </a:solidFill>
                <a:latin typeface="Aptos"/>
              </a:defRPr>
            </a:pPr>
            <a:r>
              <a:t>Note: the supplied PPT did not contain an actual Logisim screenshot; this is a recreated circuit-layout visual to guide the implementation.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D22757B-5F98-A4AD-5340-5F26A9D6D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1" y="1522265"/>
            <a:ext cx="7801516" cy="42384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CDB4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1124712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1">
                <a:solidFill>
                  <a:srgbClr val="1ECDB4"/>
                </a:solidFill>
                <a:latin typeface="Aptos"/>
              </a:defRPr>
            </a:pPr>
            <a:r>
              <a:t>TESTING AND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112471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500" b="1">
                <a:solidFill>
                  <a:srgbClr val="F5F8FC"/>
                </a:solidFill>
                <a:latin typeface="Aptos"/>
              </a:defRPr>
            </a:pPr>
            <a:r>
              <a:t>Simulation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1106424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0">
                <a:solidFill>
                  <a:srgbClr val="B4C3D7"/>
                </a:solidFill>
                <a:latin typeface="Aptos"/>
              </a:defRPr>
            </a:pPr>
            <a:r>
              <a:t>Truth table for all combinations of Door (D), Motion (M), and Armed (A).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91440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700" b="0">
                <a:solidFill>
                  <a:srgbClr val="B4C3D7"/>
                </a:solidFill>
                <a:latin typeface="Aptos"/>
              </a:defRPr>
            </a:pPr>
            <a:r>
              <a:t>SMART HOME SECURITY &amp; INTRUDER DETECTION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defRPr sz="800" b="1">
                <a:solidFill>
                  <a:srgbClr val="1ECDB4"/>
                </a:solidFill>
                <a:latin typeface="Aptos"/>
              </a:defRPr>
            </a:pPr>
            <a:r>
              <a:t>05 / 06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91640"/>
          <a:ext cx="4800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CDB4"/>
                          </a:solidFill>
                          <a:latin typeface="Aptos"/>
                        </a:defRPr>
                      </a:pPr>
                      <a:r>
                        <a:t>D</a:t>
                      </a:r>
                    </a:p>
                  </a:txBody>
                  <a:tcPr marL="73152" marR="36576">
                    <a:solidFill>
                      <a:srgbClr val="1C4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CDB4"/>
                          </a:solidFill>
                          <a:latin typeface="Aptos"/>
                        </a:defRPr>
                      </a:pPr>
                      <a:r>
                        <a:t>M</a:t>
                      </a:r>
                    </a:p>
                  </a:txBody>
                  <a:tcPr marL="73152" marR="36576">
                    <a:solidFill>
                      <a:srgbClr val="1C4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CDB4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73152" marR="36576">
                    <a:solidFill>
                      <a:srgbClr val="1C49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CDB4"/>
                          </a:solidFill>
                          <a:latin typeface="Aptos"/>
                        </a:defRPr>
                      </a:pPr>
                      <a:r>
                        <a:t>ALARM</a:t>
                      </a:r>
                    </a:p>
                  </a:txBody>
                  <a:tcPr marL="73152" marR="36576">
                    <a:solidFill>
                      <a:srgbClr val="1C49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36576">
                    <a:solidFill>
                      <a:srgbClr val="0F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36576">
                    <a:solidFill>
                      <a:srgbClr val="0F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36576">
                    <a:solidFill>
                      <a:srgbClr val="0F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36576">
                    <a:solidFill>
                      <a:srgbClr val="0F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36576">
                    <a:solidFill>
                      <a:srgbClr val="0F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36576">
                    <a:solidFill>
                      <a:srgbClr val="0F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36576">
                    <a:solidFill>
                      <a:srgbClr val="0F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6978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36576">
                    <a:solidFill>
                      <a:srgbClr val="0F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36576">
                    <a:solidFill>
                      <a:srgbClr val="0F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36576">
                    <a:solidFill>
                      <a:srgbClr val="0F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36576">
                    <a:solidFill>
                      <a:srgbClr val="0F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6978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36576">
                    <a:solidFill>
                      <a:srgbClr val="0F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36576">
                    <a:solidFill>
                      <a:srgbClr val="192D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36576">
                    <a:solidFill>
                      <a:srgbClr val="0F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36576">
                    <a:solidFill>
                      <a:srgbClr val="0F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F8F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36576">
                    <a:solidFill>
                      <a:srgbClr val="0F1D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6978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36576">
                    <a:solidFill>
                      <a:srgbClr val="0F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89320" y="1737360"/>
            <a:ext cx="52120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1">
                <a:solidFill>
                  <a:srgbClr val="1ECDB4"/>
                </a:solidFill>
                <a:latin typeface="Aptos"/>
              </a:defRPr>
            </a:pPr>
            <a:r>
              <a:t>EXPECTED BEHAVIOUR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194560"/>
            <a:ext cx="5257800" cy="841248"/>
          </a:xfrm>
          <a:prstGeom prst="roundRect">
            <a:avLst/>
          </a:prstGeom>
          <a:solidFill>
            <a:srgbClr val="192D4C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2331720"/>
            <a:ext cx="475488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1">
                <a:solidFill>
                  <a:srgbClr val="1ECDB4"/>
                </a:solidFill>
                <a:latin typeface="Aptos"/>
              </a:defRPr>
            </a:pPr>
            <a:r>
              <a:t>DISARMED (A=0)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33472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0">
                <a:solidFill>
                  <a:srgbClr val="F5F8FC"/>
                </a:solidFill>
                <a:latin typeface="Aptos"/>
              </a:defRPr>
            </a:pPr>
            <a:r>
              <a:t>Alarm stays 0, even if a sensor is active.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246120"/>
            <a:ext cx="5257800" cy="841248"/>
          </a:xfrm>
          <a:prstGeom prst="roundRect">
            <a:avLst/>
          </a:prstGeom>
          <a:solidFill>
            <a:srgbClr val="192D4C"/>
          </a:solidFill>
          <a:ln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3383279"/>
            <a:ext cx="475488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1">
                <a:solidFill>
                  <a:srgbClr val="FFB240"/>
                </a:solidFill>
                <a:latin typeface="Aptos"/>
              </a:defRPr>
            </a:pPr>
            <a:r>
              <a:t>ARMED + NO SENSOR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685031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0">
                <a:solidFill>
                  <a:srgbClr val="F5F8FC"/>
                </a:solidFill>
                <a:latin typeface="Aptos"/>
              </a:defRPr>
            </a:pPr>
            <a:r>
              <a:t>D=0 and M=0, so alarm stays 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4297679"/>
            <a:ext cx="5257800" cy="841248"/>
          </a:xfrm>
          <a:prstGeom prst="roundRect">
            <a:avLst/>
          </a:prstGeom>
          <a:solidFill>
            <a:srgbClr val="192D4C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4434840"/>
            <a:ext cx="475488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1">
                <a:solidFill>
                  <a:srgbClr val="FF6978"/>
                </a:solidFill>
                <a:latin typeface="Aptos"/>
              </a:defRPr>
            </a:pPr>
            <a:r>
              <a:t>ARMED + 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736592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0">
                <a:solidFill>
                  <a:srgbClr val="F5F8FC"/>
                </a:solidFill>
                <a:latin typeface="Aptos"/>
              </a:defRPr>
            </a:pPr>
            <a:r>
              <a:t>If D=1 or M=1, alarm becomes 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5623560"/>
            <a:ext cx="493776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0">
                <a:solidFill>
                  <a:srgbClr val="B4C3D7"/>
                </a:solidFill>
                <a:latin typeface="Aptos"/>
              </a:defRPr>
            </a:pPr>
            <a:r>
              <a:t>Test each row by toggling the input pins in Logisim.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CDB4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8912" y="246888"/>
            <a:ext cx="1124712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000" b="1">
                <a:solidFill>
                  <a:srgbClr val="1ECDB4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530352"/>
            <a:ext cx="112471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2500" b="1">
                <a:solidFill>
                  <a:srgbClr val="F5F8FC"/>
                </a:solidFill>
                <a:latin typeface="Aptos"/>
              </a:defRPr>
            </a:pPr>
            <a:r>
              <a:t>Conclusion and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1106424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0">
                <a:solidFill>
                  <a:srgbClr val="B4C3D7"/>
                </a:solidFill>
                <a:latin typeface="Aptos"/>
              </a:defRPr>
            </a:pPr>
            <a:r>
              <a:t>The project demonstrates how simple digital logic can represent a practical security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9144000" cy="1645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700" b="0">
                <a:solidFill>
                  <a:srgbClr val="B4C3D7"/>
                </a:solidFill>
                <a:latin typeface="Aptos"/>
              </a:defRPr>
            </a:pPr>
            <a:r>
              <a:t>SMART HOME SECURITY &amp; INTRUDER DETECTION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37960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>
              <a:defRPr sz="800" b="1">
                <a:solidFill>
                  <a:srgbClr val="1ECDB4"/>
                </a:solidFill>
                <a:latin typeface="Aptos"/>
              </a:defRPr>
            </a:pPr>
            <a:r>
              <a:t>06 /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212080" cy="1325880"/>
          </a:xfrm>
          <a:prstGeom prst="roundRect">
            <a:avLst/>
          </a:prstGeom>
          <a:solidFill>
            <a:srgbClr val="192D4C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920240"/>
            <a:ext cx="466344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1">
                <a:solidFill>
                  <a:srgbClr val="1ECDB4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04288"/>
            <a:ext cx="46177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The AND–OR circuit combines sensor signals with the armed state to generate a clear alarm output.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212080" cy="1325880"/>
          </a:xfrm>
          <a:prstGeom prst="roundRect">
            <a:avLst/>
          </a:prstGeom>
          <a:solidFill>
            <a:srgbClr val="192D4C"/>
          </a:solidFill>
          <a:ln>
            <a:solidFill>
              <a:srgbClr val="FFB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920240"/>
            <a:ext cx="466344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1">
                <a:solidFill>
                  <a:srgbClr val="FFB240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304288"/>
            <a:ext cx="4617720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Home entry alerts, motion-triggered lights, lab/office access monitoring, and basic intrusion alarms.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20440"/>
            <a:ext cx="502920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1">
                <a:solidFill>
                  <a:srgbClr val="1ECDB4"/>
                </a:solidFill>
                <a:latin typeface="Aptos"/>
              </a:defRPr>
            </a:pPr>
            <a:r>
              <a:t>POSSIBLE IMPROVEMENTS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3950208"/>
            <a:ext cx="155448" cy="155448"/>
          </a:xfrm>
          <a:prstGeom prst="rect">
            <a:avLst/>
          </a:prstGeom>
          <a:solidFill>
            <a:srgbClr val="1ECDB4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3904487"/>
            <a:ext cx="576072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0">
                <a:solidFill>
                  <a:srgbClr val="F5F8FC"/>
                </a:solidFill>
                <a:latin typeface="Aptos"/>
              </a:defRPr>
            </a:pPr>
            <a:r>
              <a:t>Add a latch or flip-flop to remember alarm state.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4389120"/>
            <a:ext cx="155448" cy="155448"/>
          </a:xfrm>
          <a:prstGeom prst="rect">
            <a:avLst/>
          </a:prstGeom>
          <a:solidFill>
            <a:srgbClr val="1ECDB4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4343400"/>
            <a:ext cx="576072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0">
                <a:solidFill>
                  <a:srgbClr val="F5F8FC"/>
                </a:solidFill>
                <a:latin typeface="Aptos"/>
              </a:defRPr>
            </a:pPr>
            <a:r>
              <a:t>Add a reset / disarm control and status LEDs.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4828032"/>
            <a:ext cx="155448" cy="155448"/>
          </a:xfrm>
          <a:prstGeom prst="rect">
            <a:avLst/>
          </a:prstGeom>
          <a:solidFill>
            <a:srgbClr val="1ECDB4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782312"/>
            <a:ext cx="576072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0">
                <a:solidFill>
                  <a:srgbClr val="F5F8FC"/>
                </a:solidFill>
                <a:latin typeface="Aptos"/>
              </a:defRPr>
            </a:pPr>
            <a:r>
              <a:t>Connect a buzzer or real sensor hardware.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5266944"/>
            <a:ext cx="155448" cy="155448"/>
          </a:xfrm>
          <a:prstGeom prst="rect">
            <a:avLst/>
          </a:prstGeom>
          <a:solidFill>
            <a:srgbClr val="1ECDB4"/>
          </a:solidFill>
          <a:ln>
            <a:solidFill>
              <a:srgbClr val="1EC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4128" y="5221223"/>
            <a:ext cx="576072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100" b="0">
                <a:solidFill>
                  <a:srgbClr val="F5F8FC"/>
                </a:solidFill>
                <a:latin typeface="Aptos"/>
              </a:defRPr>
            </a:pPr>
            <a:r>
              <a:t>Extend with a phone notification module (future work).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657600"/>
            <a:ext cx="3840480" cy="1691640"/>
          </a:xfrm>
          <a:prstGeom prst="roundRect">
            <a:avLst/>
          </a:prstGeom>
          <a:solidFill>
            <a:srgbClr val="192D4C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35240" y="3913632"/>
            <a:ext cx="338328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1">
                <a:solidFill>
                  <a:srgbClr val="FF6978"/>
                </a:solidFill>
                <a:latin typeface="Aptos"/>
              </a:defRPr>
            </a:pPr>
            <a:r>
              <a:t>FINAL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4343400"/>
            <a:ext cx="3337560" cy="6583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t>A verifiable truth table and a combinational circuit design suitable for Logisim simulation.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989320"/>
            <a:ext cx="10515600" cy="2286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1">
                <a:solidFill>
                  <a:srgbClr val="1ECDB4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673</Words>
  <Application>Microsoft Office PowerPoint</Application>
  <PresentationFormat>Widescreen</PresentationFormat>
  <Paragraphs>148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sabeerkhan0309@outlook.com</cp:lastModifiedBy>
  <cp:revision>4</cp:revision>
  <dcterms:created xsi:type="dcterms:W3CDTF">2013-01-27T09:14:16Z</dcterms:created>
  <dcterms:modified xsi:type="dcterms:W3CDTF">2026-10-15T03:25:52Z</dcterms:modified>
  <cp:category/>
</cp:coreProperties>
</file>